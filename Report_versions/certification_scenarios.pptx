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5B44A-9F35-445E-890F-F160A57C3AFF}" type="datetimeFigureOut">
              <a:rPr lang="en-GB" smtClean="0"/>
              <a:t>27/04/2026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87F4E-FF8D-4BBB-94F7-96659A6CE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54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87F4E-FF8D-4BBB-94F7-96659A6CE46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674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200" b="1">
                <a:solidFill>
                  <a:srgbClr val="1A2744"/>
                </a:solidFill>
                <a:latin typeface="Segoe UI"/>
              </a:rPr>
              <a:t>AgentCert — Certification Output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66928"/>
            <a:ext cx="11612880" cy="340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Segoe UI"/>
              </a:rPr>
              <a:t>How the pipeline behaves under different run conditions and data availability  •  Threshold: n ≥ 30 successful runs/category for statistical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2621219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621219" cy="548640"/>
          </a:xfrm>
          <a:prstGeom prst="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4048" y="1070000"/>
            <a:ext cx="384048" cy="31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F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1F7A3D"/>
                </a:solidFill>
                <a:latin typeface="Segoe UI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00000"/>
            <a:ext cx="2026859" cy="22775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lang="en-GB" sz="1000" b="1">
                <a:solidFill>
                  <a:srgbClr val="1F7A3D"/>
                </a:solidFill>
                <a:latin typeface="Segoe UI"/>
              </a:rPr>
              <a:t>CERTIFICATE +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20000"/>
            <a:ext cx="2346899" cy="548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500" b="1">
                <a:solidFill>
                  <a:srgbClr val="1F7A3D"/>
                </a:solidFill>
                <a:latin typeface="Segoe UI"/>
              </a:rPr>
              <a:t>Full Statistical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50000"/>
            <a:ext cx="2346899" cy="243143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100" b="1">
                <a:solidFill>
                  <a:srgbClr val="1A2744"/>
                </a:solidFill>
                <a:latin typeface="Segoe UI"/>
              </a:rPr>
              <a:t>≥ 30 successful runs /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0000"/>
            <a:ext cx="2346899" cy="243143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100" b="1">
                <a:solidFill>
                  <a:srgbClr val="1F7A3D"/>
                </a:solidFill>
                <a:latin typeface="Segoe UI"/>
              </a:rPr>
              <a:t>▸ 30 / 30 successful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83191"/>
            <a:ext cx="2346899" cy="22775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000" b="1" dirty="0">
                <a:solidFill>
                  <a:srgbClr val="4A5568"/>
                </a:solidFill>
                <a:latin typeface="Segoe UI"/>
              </a:rPr>
              <a:t>Pipeline Stages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1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F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1F7A3D"/>
                </a:solidFill>
                <a:latin typeface="Segoe UI"/>
              </a:rPr>
              <a:t>Aggregation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5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F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1F7A3D"/>
                </a:solidFill>
                <a:latin typeface="Segoe UI"/>
              </a:rPr>
              <a:t>Hypothesis H-01–H-09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9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1F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1F7A3D"/>
                </a:solidFill>
                <a:latin typeface="Segoe UI"/>
              </a:rPr>
              <a:t>Certification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900000"/>
            <a:ext cx="2346899" cy="80000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1F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n-GB" sz="900" b="1" dirty="0">
                <a:solidFill>
                  <a:srgbClr val="1F7A3D"/>
                </a:solidFill>
                <a:latin typeface="Segoe UI"/>
              </a:rPr>
              <a:t>OUTPUT</a:t>
            </a:r>
          </a:p>
          <a:p>
            <a:pPr algn="l"/>
            <a:r>
              <a:rPr lang="en-GB" sz="1100" b="1" dirty="0">
                <a:solidFill>
                  <a:srgbClr val="1A2744"/>
                </a:solidFill>
                <a:latin typeface="Segoe UI"/>
              </a:rPr>
              <a:t>Certificate with statistical claims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1599" y="960120"/>
            <a:ext cx="2621219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81599" y="960120"/>
            <a:ext cx="2621219" cy="548640"/>
          </a:xfrm>
          <a:prstGeom prst="rect">
            <a:avLst/>
          </a:prstGeom>
          <a:solidFill>
            <a:srgbClr val="FD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391327" y="1070000"/>
            <a:ext cx="384048" cy="31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0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B06E00"/>
                </a:solidFill>
                <a:latin typeface="Segoe UI"/>
              </a:rPr>
              <a:t>S2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4519" y="1100000"/>
            <a:ext cx="2026859" cy="22775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lang="en-GB" sz="1000" b="1">
                <a:solidFill>
                  <a:srgbClr val="B06E00"/>
                </a:solidFill>
                <a:latin typeface="Segoe UI"/>
              </a:rPr>
              <a:t>CERT · NO STATS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8759" y="1620000"/>
            <a:ext cx="2346899" cy="548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500" b="1">
                <a:solidFill>
                  <a:srgbClr val="B06E00"/>
                </a:solidFill>
                <a:latin typeface="Segoe UI"/>
              </a:rPr>
              <a:t>Aggregation-Only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8759" y="2250000"/>
            <a:ext cx="2346899" cy="243143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100" b="1">
                <a:solidFill>
                  <a:srgbClr val="1A2744"/>
                </a:solidFill>
                <a:latin typeface="Segoe UI"/>
              </a:rPr>
              <a:t>1 – 29 successful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8759" y="2600000"/>
            <a:ext cx="2346899" cy="243143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100" b="1">
                <a:solidFill>
                  <a:srgbClr val="B06E00"/>
                </a:solidFill>
                <a:latin typeface="Segoe UI"/>
              </a:rPr>
              <a:t>▸ e.g. 5 / 30 or 25 /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8759" y="3083191"/>
            <a:ext cx="2346899" cy="22775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000" b="1" dirty="0">
                <a:solidFill>
                  <a:srgbClr val="4A5568"/>
                </a:solidFill>
                <a:latin typeface="Segoe UI"/>
              </a:rPr>
              <a:t>Pipeline Stages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64479" y="341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0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B06E00"/>
                </a:solidFill>
                <a:latin typeface="Segoe UI"/>
              </a:rPr>
              <a:t>Aggregation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64479" y="375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0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B02A37"/>
                </a:solidFill>
                <a:latin typeface="Segoe UI"/>
              </a:rPr>
              <a:t>Hypothesis — skipped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64479" y="409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0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B06E00"/>
                </a:solidFill>
                <a:latin typeface="Segoe UI"/>
              </a:rPr>
              <a:t>Certification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8759" y="4900000"/>
            <a:ext cx="2346899" cy="800000"/>
          </a:xfrm>
          <a:prstGeom prst="roundRect">
            <a:avLst>
              <a:gd name="adj" fmla="val 12000"/>
            </a:avLst>
          </a:prstGeom>
          <a:solidFill>
            <a:srgbClr val="FDF4E0"/>
          </a:solidFill>
          <a:ln w="12700">
            <a:solidFill>
              <a:srgbClr val="B0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n-GB" sz="900" b="1">
                <a:solidFill>
                  <a:srgbClr val="B06E00"/>
                </a:solidFill>
                <a:latin typeface="Segoe UI"/>
              </a:rPr>
              <a:t>OUTPUT</a:t>
            </a:r>
          </a:p>
          <a:p>
            <a:pPr algn="l"/>
            <a:r>
              <a:rPr lang="en-GB" sz="1100" b="1">
                <a:solidFill>
                  <a:srgbClr val="1A2744"/>
                </a:solidFill>
                <a:latin typeface="Segoe UI"/>
              </a:rPr>
              <a:t>Descriptive certificate, no statistical 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8878" y="960120"/>
            <a:ext cx="2621219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88878" y="960120"/>
            <a:ext cx="2621219" cy="548640"/>
          </a:xfrm>
          <a:prstGeom prst="rect">
            <a:avLst/>
          </a:prstGeom>
          <a:solidFill>
            <a:srgbClr val="FA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98606" y="1070000"/>
            <a:ext cx="384048" cy="31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0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B02A37"/>
                </a:solidFill>
                <a:latin typeface="Segoe UI"/>
              </a:rPr>
              <a:t>S3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1798" y="1100000"/>
            <a:ext cx="2026859" cy="22775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lang="en-GB" sz="1000" b="1">
                <a:solidFill>
                  <a:srgbClr val="B02A37"/>
                </a:solidFill>
                <a:latin typeface="Segoe UI"/>
              </a:rPr>
              <a:t>NO CERTIFICATE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6038" y="1620000"/>
            <a:ext cx="2346899" cy="304699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500" b="1">
                <a:solidFill>
                  <a:srgbClr val="B02A37"/>
                </a:solidFill>
                <a:latin typeface="Segoe UI"/>
              </a:rPr>
              <a:t>No Successful Runs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038" y="2250000"/>
            <a:ext cx="2346899" cy="243143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100" b="1">
                <a:solidFill>
                  <a:srgbClr val="1A2744"/>
                </a:solidFill>
                <a:latin typeface="Segoe UI"/>
              </a:rPr>
              <a:t>0 successful runs reach certifier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6038" y="2600000"/>
            <a:ext cx="2346899" cy="243143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100" b="1">
                <a:solidFill>
                  <a:srgbClr val="B02A37"/>
                </a:solidFill>
                <a:latin typeface="Segoe UI"/>
              </a:rPr>
              <a:t>▸ 0 / 30 successful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038" y="3083191"/>
            <a:ext cx="2346899" cy="22775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000" b="1">
                <a:solidFill>
                  <a:srgbClr val="4A5568"/>
                </a:solidFill>
                <a:latin typeface="Segoe UI"/>
              </a:rPr>
              <a:t>Pipeline Stages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71758" y="341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0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B02A37"/>
                </a:solidFill>
                <a:latin typeface="Segoe UI"/>
              </a:rPr>
              <a:t>Aggregation — no input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71758" y="375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0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B02A37"/>
                </a:solidFill>
                <a:latin typeface="Segoe UI"/>
              </a:rPr>
              <a:t>Hypothesis — skipped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71758" y="409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B0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B02A37"/>
                </a:solidFill>
                <a:latin typeface="Segoe UI"/>
              </a:rPr>
              <a:t>Certification — skipped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26038" y="4900000"/>
            <a:ext cx="2346899" cy="800000"/>
          </a:xfrm>
          <a:prstGeom prst="roundRect">
            <a:avLst>
              <a:gd name="adj" fmla="val 12000"/>
            </a:avLst>
          </a:prstGeom>
          <a:solidFill>
            <a:srgbClr val="FAE8EA"/>
          </a:solidFill>
          <a:ln w="12700">
            <a:solidFill>
              <a:srgbClr val="B0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n-GB" sz="900" b="1">
                <a:solidFill>
                  <a:srgbClr val="B02A37"/>
                </a:solidFill>
                <a:latin typeface="Segoe UI"/>
              </a:rPr>
              <a:t>OUTPUT</a:t>
            </a:r>
          </a:p>
          <a:p>
            <a:pPr algn="l"/>
            <a:r>
              <a:rPr lang="en-GB" sz="1100" b="1">
                <a:solidFill>
                  <a:srgbClr val="1A2744"/>
                </a:solidFill>
                <a:latin typeface="Segoe UI"/>
              </a:rPr>
              <a:t>No certificate — upstream failure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96157" y="960120"/>
            <a:ext cx="2621219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296157" y="960120"/>
            <a:ext cx="2621219" cy="548640"/>
          </a:xfrm>
          <a:prstGeom prst="rect">
            <a:avLst/>
          </a:prstGeom>
          <a:solidFill>
            <a:srgbClr val="FD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405885" y="1070000"/>
            <a:ext cx="384048" cy="31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44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300" b="1">
                <a:solidFill>
                  <a:srgbClr val="C44A1F"/>
                </a:solidFill>
                <a:latin typeface="Segoe UI"/>
              </a:rPr>
              <a:t>S4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99077" y="1100000"/>
            <a:ext cx="2026859" cy="22775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lang="en-GB" sz="1000" b="1">
                <a:solidFill>
                  <a:srgbClr val="C44A1F"/>
                </a:solidFill>
                <a:latin typeface="Segoe UI"/>
              </a:rPr>
              <a:t>CERT W/ WARNINGS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33317" y="1620000"/>
            <a:ext cx="2346899" cy="304699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500" b="1">
                <a:solidFill>
                  <a:srgbClr val="C44A1F"/>
                </a:solidFill>
                <a:latin typeface="Segoe UI"/>
              </a:rPr>
              <a:t>Runs OK, Metrics Null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33317" y="2250000"/>
            <a:ext cx="2346899" cy="412421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100" b="1">
                <a:solidFill>
                  <a:srgbClr val="1A2744"/>
                </a:solidFill>
                <a:latin typeface="Segoe UI"/>
              </a:rPr>
              <a:t>Runs successful but metrics not extracted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3317" y="2600000"/>
            <a:ext cx="2346899" cy="243143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100" b="1">
                <a:solidFill>
                  <a:srgbClr val="C44A1F"/>
                </a:solidFill>
                <a:latin typeface="Segoe UI"/>
              </a:rPr>
              <a:t>▸ ≥ 1 run, fields all null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3317" y="3083191"/>
            <a:ext cx="2346899" cy="22775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lang="en-GB" sz="1000" b="1">
                <a:solidFill>
                  <a:srgbClr val="4A5568"/>
                </a:solidFill>
                <a:latin typeface="Segoe UI"/>
              </a:rPr>
              <a:t>Pipeline Stages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79037" y="341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44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C44A1F"/>
                </a:solidFill>
                <a:latin typeface="Segoe UI"/>
              </a:rPr>
              <a:t>Aggregation — skipped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79037" y="375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44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C44A1F"/>
                </a:solidFill>
                <a:latin typeface="Segoe UI"/>
              </a:rPr>
              <a:t>Hypothesis — skipped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79037" y="4092215"/>
            <a:ext cx="2346899" cy="280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44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18288" rIns="36576" bIns="18288" rtlCol="0" anchor="ctr"/>
          <a:lstStyle/>
          <a:p>
            <a:pPr algn="ctr"/>
            <a:r>
              <a:rPr lang="en-GB" sz="1000" b="1">
                <a:solidFill>
                  <a:srgbClr val="C44A1F"/>
                </a:solidFill>
                <a:latin typeface="Segoe UI"/>
              </a:rPr>
              <a:t>Certification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33317" y="4900000"/>
            <a:ext cx="2346899" cy="800000"/>
          </a:xfrm>
          <a:prstGeom prst="roundRect">
            <a:avLst>
              <a:gd name="adj" fmla="val 12000"/>
            </a:avLst>
          </a:prstGeom>
          <a:solidFill>
            <a:srgbClr val="FDEADF"/>
          </a:solidFill>
          <a:ln w="12700">
            <a:solidFill>
              <a:srgbClr val="C44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lang="en-GB" sz="900" b="1">
                <a:solidFill>
                  <a:srgbClr val="C44A1F"/>
                </a:solidFill>
                <a:latin typeface="Segoe UI"/>
              </a:rPr>
              <a:t>OUTPUT</a:t>
            </a:r>
          </a:p>
          <a:p>
            <a:pPr algn="l"/>
            <a:r>
              <a:rPr lang="en-GB" sz="1100" b="1">
                <a:solidFill>
                  <a:srgbClr val="1A2744"/>
                </a:solidFill>
                <a:latin typeface="Segoe UI"/>
              </a:rPr>
              <a:t>Certificate with explicit warnings — investigate further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6420000"/>
            <a:ext cx="11612880" cy="243143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spAutoFit/>
          </a:bodyPr>
          <a:lstStyle/>
          <a:p>
            <a:pPr algn="ctr"/>
            <a:r>
              <a:rPr lang="en-GB" sz="1100" b="1">
                <a:solidFill>
                  <a:srgbClr val="4A5568"/>
                </a:solidFill>
                <a:latin typeface="Segoe UI"/>
              </a:rPr>
              <a:t>Statistical hypothesis testing (H-01 – H-09) is performed only in S1.  S3 does not produce a certificate.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2138</TotalTime>
  <Words>195</Words>
  <Application>Microsoft Office PowerPoint</Application>
  <PresentationFormat>Widescreen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Shiwani Kumari</cp:lastModifiedBy>
  <cp:revision>6</cp:revision>
  <dcterms:created xsi:type="dcterms:W3CDTF">2013-01-27T09:14:16Z</dcterms:created>
  <dcterms:modified xsi:type="dcterms:W3CDTF">2026-04-28T06:40:46Z</dcterms:modified>
  <cp:category/>
</cp:coreProperties>
</file>