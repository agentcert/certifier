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Statistical Hypothesis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4C8E6"/>
                </a:solidFill>
                <a:latin typeface="Aptos"/>
              </a:rPr>
              <a:t>Advanced Inference Strategy for AgentCert Certification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1591056" cy="320040"/>
          </a:xfrm>
          <a:prstGeom prst="round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871216"/>
            <a:ext cx="1444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DCF5"/>
                </a:solidFill>
                <a:latin typeface="Aptos"/>
              </a:rPr>
              <a:t>AgentCert 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3744" y="2834640"/>
            <a:ext cx="3566159" cy="320040"/>
          </a:xfrm>
          <a:prstGeom prst="round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2871216"/>
            <a:ext cx="34198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DCF5"/>
                </a:solidFill>
                <a:latin typeface="Aptos"/>
              </a:rPr>
              <a:t>Single Agent · No SLA · n ≥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2834640"/>
            <a:ext cx="1152144" cy="320040"/>
          </a:xfrm>
          <a:prstGeom prst="round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3" y="28712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DCF5"/>
                </a:solidFill>
                <a:latin typeface="Aptos"/>
              </a:rPr>
              <a:t>α =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1503" y="2834640"/>
            <a:ext cx="1591056" cy="320040"/>
          </a:xfrm>
          <a:prstGeom prst="round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655" y="2871216"/>
            <a:ext cx="1444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DCF5"/>
                </a:solidFill>
                <a:latin typeface="Aptos"/>
              </a:rPr>
              <a:t>6 Hypotheses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2287" y="2834640"/>
            <a:ext cx="1371600" cy="320040"/>
          </a:xfrm>
          <a:prstGeom prst="round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39" y="2871216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DCF5"/>
                </a:solidFill>
                <a:latin typeface="Aptos"/>
              </a:rPr>
              <a:t>11 Methods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43615" y="2834640"/>
            <a:ext cx="2249424" cy="320040"/>
          </a:xfrm>
          <a:prstGeom prst="round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16767" y="2871216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DCF5"/>
                </a:solidFill>
                <a:latin typeface="Aptos"/>
              </a:rPr>
              <a:t>25 Research Papers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3520440" cy="21031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" y="4590288"/>
            <a:ext cx="41148" cy="18836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59028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Framework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Single-agent reliability assessment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n ≥ 30 runs per fault category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6 hypotheses covering CI, comparison, stability, drift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Grounded in 15 peer-reviewed papers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480560"/>
            <a:ext cx="3520440" cy="21031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2544" y="4590288"/>
            <a:ext cx="41148" cy="18836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59028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Core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93776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Confidence intervals replace point estimates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Cross-category disparity detection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Variance stability and temporal drift flags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CONSISTENT / FLAGGED / ALERT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480560"/>
            <a:ext cx="3520440" cy="21031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47304" y="4590288"/>
            <a:ext cx="41148" cy="18836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459028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Binding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93776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Worst-category floor is the certification signal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Tier 1 safety metrics override Tier 2 quality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Holm-Bonferroni for safety, BH-FDR for quality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Auditable evidence chain for every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Statistical Hypothesis Framework · No-SLA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What Is a Statistical Hypothesis Framework?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Replacing single-number summaries with formal probabilistic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49240" cy="25603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801368"/>
            <a:ext cx="41148" cy="2340864"/>
          </a:xfrm>
          <a:prstGeom prst="rect">
            <a:avLst/>
          </a:prstGeom>
          <a:solidFill>
            <a:srgbClr val="828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Basic Strategy (Current)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Deterministic point estimates: mean, median, p95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Derived rates: detection_rate, mitigation_rate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Hard threshold pass/fail ("rate ≥ 0.90 ⇒ pass")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No uncertainty quantification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Silent on whether differences are real or noise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Vulnerable to false confidence at small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349240" cy="25603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801368"/>
            <a:ext cx="41148" cy="2340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80136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Advanced Strategy (Proposed)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4884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Confidence intervals for every metric (Wilson, Bootstrap, IQM)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Normality pre-testing (Shapiro-Wilk) before parametric inference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Non-parametric defaults (Kruskal-Wallis, Mann-Whitney U)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Effect sizes (Vargha-Delaney A₁₂) alongside p-values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Variance stability (Levene's) and drift detection (CUSUM)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Worst-category binding and tiered assessment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64240" cy="6400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663440"/>
            <a:ext cx="10735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0893E"/>
                </a:solidFill>
                <a:latin typeface="Aptos"/>
              </a:rPr>
              <a:t>Core idea: Running 30+ times and looking at the pattern of results tells you what the agent actually does, not what it happened to do 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2697480" cy="105156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" y="5550408"/>
            <a:ext cx="41148" cy="8321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55040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Confidence Interval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8978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 range where we're 95% sure the true answer 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5440680"/>
            <a:ext cx="2697480" cy="105156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92424" y="5550408"/>
            <a:ext cx="41148" cy="8321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555040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p-value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58978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Probability the observed difference is just random luck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440680"/>
            <a:ext cx="2697480" cy="105156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7064" y="5550408"/>
            <a:ext cx="41148" cy="8321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555040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Effect Size (A₁₂)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58978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How big a difference is, not just whether it's real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5440680"/>
            <a:ext cx="2697480" cy="105156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704" y="5550408"/>
            <a:ext cx="41148" cy="8321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555040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IQM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58978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Average of the middle 50% — robust to outliers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A: What Is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PLAIN ENGLISH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What Are We Trying to Prove?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For non-statisticians — each test answers a simple question about the agent's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20116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755648"/>
            <a:ext cx="41148" cy="17922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H-01: How precise are the agent's scores?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Measures speed, quality, hallucination across 30+ runs. Gives a range (CI) instead of a single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0116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755648"/>
            <a:ext cx="41148" cy="17922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55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H-02: What's the true success rate?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If 24/30 faults caught = 80%, but true rate is between 62% and 91%. Lower bound = safety floor.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20440" cy="20116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755648"/>
            <a:ext cx="41148" cy="17922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755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H-03: Does it handle all fault types equally?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031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Compares speed and quality across app, network, resource faults. Catches hidden weaknesses.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3520440" cy="20116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" y="4041648"/>
            <a:ext cx="41148" cy="17922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041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H-04: Are success rates the same across faults?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3891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Overall 70% can hide: 90% for app faults but 50% for network. This test exposes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31920"/>
            <a:ext cx="3520440" cy="20116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2544" y="4041648"/>
            <a:ext cx="41148" cy="17922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4041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H-05: Is the agent consistent or unpredictable?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3891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Detects 10s, then 500s, then 30s = unreliable. Checks if variability is stable across categories.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31920"/>
            <a:ext cx="3520440" cy="20116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4041648"/>
            <a:ext cx="41148" cy="17922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4041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H-06: Is the agent getting worse over time?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3891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Watches for gradual decline: 90% → 85% → 78% → 70%. Catches slow degradation.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893E"/>
                </a:solidFill>
                <a:latin typeface="Aptos"/>
              </a:rPr>
              <a:t>✔ CONSISTENT</a:t>
            </a:r>
            <a:r>
              <a:rPr sz="1400" b="1">
                <a:solidFill>
                  <a:srgbClr val="828C9B"/>
                </a:solidFill>
                <a:latin typeface="Aptos"/>
              </a:rPr>
              <a:t>  ·  </a:t>
            </a:r>
            <a:r>
              <a:rPr sz="1400" b="1">
                <a:solidFill>
                  <a:srgbClr val="C49000"/>
                </a:solidFill>
                <a:latin typeface="Aptos"/>
              </a:rPr>
              <a:t>⚠ FLAGGED</a:t>
            </a:r>
            <a:r>
              <a:rPr sz="1400" b="1">
                <a:solidFill>
                  <a:srgbClr val="828C9B"/>
                </a:solidFill>
                <a:latin typeface="Aptos"/>
              </a:rPr>
              <a:t>  ·  </a:t>
            </a:r>
            <a:r>
              <a:rPr sz="1400" b="1">
                <a:solidFill>
                  <a:srgbClr val="C42B1C"/>
                </a:solidFill>
                <a:latin typeface="Aptos"/>
              </a:rPr>
              <a:t>✘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Plain English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Why Is Statistical Inference Necessary?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Point estimates alone are insufficient for reliable certification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20440" cy="29260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801368"/>
            <a:ext cx="41148" cy="27066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Stochastic Agent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LLM agents produce variable outputs across runs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Same fault injection can yield TTD of 15s in run 1 and 180s in run 5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Point estimates hide this variance entirely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Need interval-based interpretation to capture true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29260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801368"/>
            <a:ext cx="41148" cy="270662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0136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False Confidence from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488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Mean detection rate of 0.92 can come from very different distributions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{1,1,1,1,1,0,0,0} vs {0.92 × 30 times} — same mean, radically different risk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Distribution-aware testing separates safe from unsafe agents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Two datasets can share the same average but differ in reliability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520440" cy="29260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801368"/>
            <a:ext cx="41148" cy="2706624"/>
          </a:xfrm>
          <a:prstGeom prst="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80136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Audit &amp; Compliance Requirement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488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Enterprise certification demands reproducible evidence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 p-value with CI provides a defensible audit trail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Regulators and compliance officers can evaluate statistical outputs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Supports governance standards and traceability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1106424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983480"/>
            <a:ext cx="10735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66CC"/>
                </a:solidFill>
                <a:latin typeface="Aptos"/>
              </a:rPr>
              <a:t>At n ≥ 30 per fault category: CIs narrow substantially, CLT holds, all 11 statistical methods operate at full effectiveness. Satisfies Klees et al. (CCS 2018) minimum 30-trial requirement.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60720"/>
            <a:ext cx="5349240" cy="7772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" y="5870448"/>
            <a:ext cx="41148" cy="55778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8704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Wilson CI at n=30, rate=0.80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217920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95% CI: [0.62, 0.91] — actionable precision for certification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760720"/>
            <a:ext cx="5349240" cy="7772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5870448"/>
            <a:ext cx="41148" cy="55778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58704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Wilson CI at n=30, rate=0.00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6217920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95% CI: [0.00, 0.12] — no false confidence from zero observations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B: Why Statistical Inference?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Where Does Hypothesis Testing Apply?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Every hypothesis maps to a grouping axis already present in the AgentCert data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49240" cy="21031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801368"/>
            <a:ext cx="41148" cy="18836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Fault Category 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Field(s):  fault_category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Question:  Do metrics differ across application_fault, network_fault, resource_fault?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Example:  Welch's ANOVA / Kruskal-Wallis on time_to_detect across 3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349240" cy="21031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801368"/>
            <a:ext cx="41148" cy="1883664"/>
          </a:xfrm>
          <a:prstGeom prst="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80136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Confidence Interval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4884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Field(s):  All numeric &amp; derived metrics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Question:  What is the plausible range of the true metric value?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Example:  Bootstrap CI on time_to_detect mean; Wilson CI on detection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5349240" cy="21031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" y="4178808"/>
            <a:ext cx="41148" cy="188366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788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Run-Group Stability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2628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Field(s):  certification_run_id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Question:  Is run-to-run variance within acceptable bounds?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Example:  Levene's test on time_to_detect variance across run batches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69080"/>
            <a:ext cx="5349240" cy="210312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4178808"/>
            <a:ext cx="41148" cy="1883664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41788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Temporal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452628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Field(s):  created_at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Question:  Has performance drifted between certification cycles?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Example:  CUSUM on fault_detection_success_rate over ordered 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C: Where Testing Applies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D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Statistical Methods Catalog: CI &amp; Pre-Testing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Methods 1–4 of 11 — Confidence interval estimation and normality gating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49240" cy="21488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755648"/>
            <a:ext cx="41148" cy="192938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1: Wilson Confidence Interval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Estimates 95% CI for binary rates (detection, mitigation, FNR, RAI compliance)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Handles extreme rates (near 0 or 1) correctly — Wald CI collapses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Clopper-Pearson exact CI for safety-critical rates (conservative fallback)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Ref: Wilson (1927), Agresti &amp; Coull (1998), Ribeiro et al. (2020)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49240" cy="21488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755648"/>
            <a:ext cx="41148" cy="1929384"/>
          </a:xfrm>
          <a:prstGeom prst="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7556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2: Bootstrap CI (BCa, B=50,000)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0312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CI for any statistic (mean, median, P95) without distributional assumptions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Applied to: time_to_detect, time_to_mitigate, reasoning_score, hallucination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BCa variant corrects skewness and bias; stratified within fault categories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Ref: Efron (1979), Agarwal et al. (NeurIPS 2021)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5349240" cy="21488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" y="4178808"/>
            <a:ext cx="41148" cy="192938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788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3: Interquartile Mean (IQM)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2628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25% trimmed mean: discard top/bottom 25%, average remaining 50%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Primary aggregate metric — more robust than mean, more efficient than median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scipy.stats.trim_mean(scores, 0.25); combine with bootstrap CI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Ref: Agarwal et al. (NeurIPS 2021, Outstanding Paper)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69080"/>
            <a:ext cx="5349240" cy="21488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4178808"/>
            <a:ext cx="41148" cy="1929384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41788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4: Shapiro-Wilk Normality Pre-Test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452628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Mandatory gate before any parametric test (Welch's ANOVA)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If all groups pass (p &gt; 0.05): parametric tests permissible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If any group fails: use non-parametric (Kruskal-Wallis, Mann-Whitney U)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Ref: Shapiro &amp; Wilk (1965), Henderson et al. (AAAI 2018)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D: Methods Catalog (1/3)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D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Statistical Methods Catalog: Comparison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Methods 5–8 of 11 — Non-parametric primary, parametric conditional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49240" cy="21488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755648"/>
            <a:ext cx="41148" cy="192938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5: Kruskal-Wallis H (PRIMARY)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Rank-based test for equality across k ≥ 3 fault categories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Default for cross-category comparison — no normality/variance assumptions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Post-hoc: Mann-Whitney U with Holm-Bonferroni correction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Report ε² (epsilon-squared) as omnibus effect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49240" cy="21488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755648"/>
            <a:ext cx="41148" cy="1929384"/>
          </a:xfrm>
          <a:prstGeom prst="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7556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6: Mann-Whitney U (Pairwise)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0312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Non-parametric two-sample test — P(X &gt; Y)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Post-hoc after significant Kruskal-Wallis result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Applied with Holm-Bonferroni correction (3 pairs for 3 categories)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Report rank-biserial correlation r alongside p-value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5349240" cy="21488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" y="4178808"/>
            <a:ext cx="41148" cy="192938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788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7: Vargha-Delaney A₁₂ (Effect Size)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2628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A₁₂ = P(X &gt; Y) + 0.5 · P(X = Y) — probability interpretation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Thresholds: 0.56 small, 0.64 medium, 0.71 large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Always report alongside p-values — significance without effect size is meaningless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Preferred over Cohen's d: non-parametric, robust, directly interpretable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69080"/>
            <a:ext cx="5349240" cy="21488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4178808"/>
            <a:ext cx="41148" cy="1929384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41788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8: Welch's ANOVA (Conditional)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452628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Parametric multi-group mean comparison — more powerful than K-W when valid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ONLY used when Shapiro-Wilk confirms normality for ALL groups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No equal-variance assumption (Welch correction)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Post-hoc: Games-Howell pairwise comparisons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D: Methods Catalog (2/3)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D ·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Statistical Methods Catalog: Rates, Variance &amp;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Methods 9–11 of 11 — Plus multiple-comparison corrections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291840" cy="24688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755648"/>
            <a:ext cx="41148" cy="22494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9: Chi-Square / Fisher's Exact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Tests whether binary success/failure rates are uniform across categories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Chi-Square primary at n ≥ 30; Fisher-Freeman-Halton exact for small cells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Report Cramér's V effect size and standardized residuals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Identifies which category is the outlier (|residual| &gt;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45920"/>
            <a:ext cx="3291840" cy="24688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3944" y="1755648"/>
            <a:ext cx="41148" cy="2249424"/>
          </a:xfrm>
          <a:prstGeom prst="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7556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10: Levene's Test (Variance Stability)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1031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Tests equality of variances across groups for continuous metrics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CV per group: &lt; 0.15 stable, 0.15–0.30 moderate, &gt; 0.30 unstable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Variance ratio: max(σ²) / min(σ²) — ratio &gt; 4× is an ALERT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Brown-Forsythe fallback (uses median, more robust to outliers)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645920"/>
            <a:ext cx="3291840" cy="24688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0104" y="1755648"/>
            <a:ext cx="41148" cy="2249424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17556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Method 11: CUSUM / Page-Hinkley (Drift)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21031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Sequential change-point detection across certification cycles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Detects gradual degradation invisible to single-snapshot tests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Requires ≥ 3 certification cycles for meaningful detection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Mann-Kendall trend test as non-parametric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89120"/>
            <a:ext cx="5349240" cy="19202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" y="4498848"/>
            <a:ext cx="41148" cy="170078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4988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Multiple-Comparison Corrections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Tier 1 (Safety-Critical): Holm-Bonferroni step-down (controls FWER)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Tier 2 (Quality Gates): Benjamini-Hochberg FDR at q = 0.05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Post-hoc pairwise: Holm correction within each hypothesis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H-01 and H-02 produce CIs only (no p-values, no correction needed)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89120"/>
            <a:ext cx="5349240" cy="1920240"/>
          </a:xfrm>
          <a:prstGeom prst="round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480560"/>
            <a:ext cx="50200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49000"/>
                </a:solidFill>
                <a:latin typeface="Aptos"/>
              </a:rPr>
              <a:t>No-SLA Constraint: All threshold-dependent methods are excluded (one-sample t-test vs SLA, proportion z-test vs target, TOST equivalence, Hotelling's T² vs target vector). The 11 methods above produce insights without requiring external reference values.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D: Methods Catalog (3/3)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E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Hypothesis Library: H-01 to H-03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CI estimation (continuous + binary) and cross-category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1554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755648"/>
            <a:ext cx="41148" cy="13350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H-01: Continuous Metric CI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Purpose: Estimate plausible range of true value per fault category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Test: Stratified Bootstrap BCa (B=50,000) with IQM as primary aggregate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Metrics: time_to_detect, time_to_mitigate, reasoning_score, hallucination_score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Key signal: CI width = precision; hallucination upper bound = safety flag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Correction: Holm-Bonferroni for safety-critical metrics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Output: ESTIMATE — no H₀/H₁ (purely descriptive)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11064240" cy="1554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" y="3447288"/>
            <a:ext cx="41148" cy="1335024"/>
          </a:xfrm>
          <a:prstGeom prst="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4472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H-02: Binary Rate CI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94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Purpose: Estimate plausible range of true success/failure rate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Test: Wilson Confidence Interval (Clopper-Pearson for safety-critical)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Metrics: detection_rate, mitigation_rate, FNR, RAI compliance, security compliance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Key signal: Lower bound = safety floor (at n=30, rate=0.80 → CI [0.62, 0.91])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Correction: Clopper-Pearson exact for rai_compliance_rate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Output: ESTIMATE — lower bound is the binding certification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64240" cy="1554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" y="5138928"/>
            <a:ext cx="41148" cy="133502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1389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H-03: Cross-Category Comparison (Continuous)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486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H₀: μ_app = μ_net = μ_res  |  H₁: At least one μ differs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Step 1: Shapiro-Wilk normality per group (reliable at n ≥ 30)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Step 2: If non-normal → Kruskal-Wallis; if normal → Welch's ANOVA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Post-hoc: Mann-Whitney U with Holm-Bonferroni (3 pairs)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Effect size: Vargha-Delaney A₁₂ for each pair; ε² omnibus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Output: FLAG if disparity detected; OK if uniform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E: Hypothesis Library (1/2)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E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Hypothesis Library: H-04 to H-06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Binary rate comparison, variance stability, and temporal drift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1554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755648"/>
            <a:ext cx="41148" cy="13350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H-04: Cross-Category Comparison (Binary Rates)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H₀: p_app = p_net = p_res  |  H₁: At least one p differs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Test: Chi-Square test of homogeneity (primary at n ≥ 30)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Fallback: Fisher-Freeman-Halton exact test (when expected cells &lt; 5)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Report: Cramér's V effect size, standardized residuals to identify outlier category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Example: Overall 70% hides app=90%, net=50% — this test catches it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Output: FLAG if non-uniform; OK if uniform rates across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11064240" cy="1554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" y="3447288"/>
            <a:ext cx="41148" cy="133502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4472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H-05: Run-to-Run Variance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94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H₀: σ²_cat1 = σ²_cat2 = σ²_cat3  |  H₁: At least one σ² differs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Test: Levene's test (robust to non-normality, unlike Bartlett's)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Fallback: Brown-Forsythe (uses median instead of mean)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CV per group: &lt; 0.15 stable, 0.15–0.30 moderate, &gt; 0.30 unstable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Variance ratio: max(σ²)/min(σ²) &gt; 4× → ALERT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Output: FLAG if unstable; OK if stable variance across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64240" cy="1554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" y="5138928"/>
            <a:ext cx="41148" cy="1335024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1389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H-06: Temporal Drift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486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H₀: No change-point in metric sequence  |  H₁: Change-point exists at time t*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Test: CUSUM / Page-Hinkley sequential change-point detection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Fallback: Mann-Kendall trend test (non-parametric monotonic trend)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Requires ≥ 3 certification cycles for meaningful detection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Priority: Hallucination upward trend = highest safety alarm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Output: ALERT if safety metric drift; FLAG if performance 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943600"/>
            <a:ext cx="1106424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035040"/>
            <a:ext cx="10735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66CC"/>
                </a:solidFill>
                <a:latin typeface="Aptos"/>
              </a:rPr>
              <a:t>Selection: 1,010 scenarios generated (18 metrics × 7 groupings × 14 tests × 5 contexts) → SLA-dependent removed → consolidated to 6 non-redundant hypotheses.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E: Hypothesis Library (2/2)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11 Methods → 6 Hypotheses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Every method in the catalog is consumed by one or more hypotheses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042416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560320"/>
                <a:gridCol w="1280160"/>
                <a:gridCol w="1097280"/>
                <a:gridCol w="512064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Used In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Output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Wilson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Proportion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95% CI for binary rates; lower bound = safety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Bootstrap CI (BCa)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Non-Parametric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H-01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95% CI for any continuous statistic (mean, P95, IQM)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IQM (Trimmed 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Non-Parametric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Robust aggregate: discard top/bottom 25%, average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Shapiro-Wilk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Pre-Test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H-03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Normality gate: parametric (Welch) vs non-parametric (K-W)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Kruskal-Wallis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Non-Parametric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Omnibus multi-group comparison (rank-based, 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Mann-Whitney U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Non-Parametric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H-03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Pairwise post-hoc after significant Kruskal-Wallis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Vargha-Delaney A₁₂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Non-Parametric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H-03, H-04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Effect size: P(X&gt;Y); 0.56 small, 0.64 medium, 0.71 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Welch's ANOVA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Parametric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H-03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Multi-group means (conditional on normality passing)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Chi-Square / Fisher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Proportion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Binary rate uniformity across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Levene's Test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Parametric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H-05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Variance equality; CV and variance ratio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CUSUM / Page-Hinkley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H-06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124"/>
                          </a:solidFill>
                          <a:latin typeface="Aptos"/>
                        </a:defRPr>
                      </a:pPr>
                      <a:r>
                        <a:t>Sequential change-point detection across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6035040"/>
            <a:ext cx="5349240" cy="502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126480"/>
            <a:ext cx="5020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0893E"/>
                </a:solidFill>
                <a:latin typeface="Aptos"/>
              </a:rPr>
              <a:t>Corrections: Holm-Bonferroni (Tier 1 safety) + Benjamini-Hochberg FDR (Tier 2 quality)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6035040"/>
            <a:ext cx="5349240" cy="502920"/>
          </a:xfrm>
          <a:prstGeom prst="round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6126480"/>
            <a:ext cx="5020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49000"/>
                </a:solidFill>
                <a:latin typeface="Aptos"/>
              </a:rPr>
              <a:t>Binding rule: Worst-category floor per Sagawa et al. (2020) Group DRO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Methods → Hypotheses Summary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F2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Cross-Experiment Analysis: Why Not Pool?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Different fault combinations = different experimental contexts = confounding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10972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755648"/>
            <a:ext cx="41148" cy="877824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The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Experiment 1: faults {f1, f2, f3} × 30 runs  →  Certificate 1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Experiment 2: faults {f1, f5} × 20 runs  →  Certificate 2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Combined: f1 has 50 observations from two different experimental contexts. Can we pool them?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3291840" cy="24688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" y="3127248"/>
            <a:ext cx="41148" cy="2249424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Simpson's Paradox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747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Pooling across subgroups with different confounders can REVERSE conclusions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Bickel et al. (Science, 1975): UC Berkeley admissions reversal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Pearl (2009): conflating observational with interventional probabilities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Agent on f1 alongside {f2,f3} vs {f5}: different contexts = different behavior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017520"/>
            <a:ext cx="3291840" cy="24688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23944" y="3127248"/>
            <a:ext cx="41148" cy="224942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31272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Batch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4747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Johnson et al. (2007): "inappropriate to combine without adjusting for batch effects"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Leek et al. (2010): correlations can reverse sign across batches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Different fault combinations = different experimental batches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Standard normalization does NOT fix this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017520"/>
            <a:ext cx="3291840" cy="24688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90104" y="3127248"/>
            <a:ext cx="41148" cy="22494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31272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Ecological Fallacy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34747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Robinson (1950): group-level correlations ≠ individual-level correlations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Greenland (2001): aggregate data provides only marginal observations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Pooled experiment data hides per-experiment agent behavior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Conclusions from aggregated data about individual runs are invalid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6400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852160"/>
            <a:ext cx="10735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42B1C"/>
                </a:solidFill>
                <a:latin typeface="Aptos"/>
              </a:rPr>
              <a:t>Cochrane Handbook (2024): A pooled estimate under heterogeneity "may be an intervention effect that does not actually exist in any population." (Mandatory Expectation C62)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F2: Cross-Experiment Analysis (1/2)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66CC"/>
                </a:solidFill>
                <a:latin typeface="Aptos"/>
              </a:rPr>
              <a:t>SECTION F2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542"/>
                </a:solidFill>
                <a:latin typeface="Aptos Display"/>
              </a:rPr>
              <a:t>The Correct Approach: Two-Level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86070"/>
                </a:solidFill>
                <a:latin typeface="Aptos"/>
              </a:rPr>
              <a:t>Per-experiment hypothesis testing + meta-analytic combination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49240" cy="23774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1755648"/>
            <a:ext cx="41148" cy="215798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Level 1: Per-Experiment (Scoped)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4983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Run H-01 through H-05 within each experiment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All observations share the same fault combination — no confounding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Each experiment produces its own statistical evidence block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Clean, unconfounded hypothesis tests per experiment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Output: per-experiment certificate with full statistical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49240" cy="237744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755648"/>
            <a:ext cx="41148" cy="2157984"/>
          </a:xfrm>
          <a:prstGeom prst="rect">
            <a:avLst/>
          </a:prstGeom>
          <a:solidFill>
            <a:srgbClr val="1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7556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Level 2: Cross-Experiment (Meta-Analysis)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03120"/>
            <a:ext cx="4983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Homogeneity pre-test (Mann-Whitney U / K-S) on shared faults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Assess I² statistic (Higgins &amp; Thompson 2002) for heterogeneity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If I² &lt; 40%: pool via random-effects (DerSimonian-Laird 1986)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If I² &gt; 75%: do NOT pool — report separately, flag context-dependency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H-06 (drift) runs across experiments in temporal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64240" cy="105156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" y="4407408"/>
            <a:ext cx="41148" cy="832104"/>
          </a:xfrm>
          <a:prstGeom prst="rect">
            <a:avLst/>
          </a:prstGeom>
          <a:solidFill>
            <a:srgbClr val="C4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074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Decision Flow for Shared 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754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Step 1: For each shared fault, test if data from both experiments comes from the same distribution (Mann-Whitney U)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Step 2: Compute I² — if &lt; 40% pool for tighter CIs; if 40-75% use random-effects model; if &gt; 75% report separately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Step 3: Context-dependency itself is a finding — flag it in the combined certificate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60"/>
            <a:ext cx="5349240" cy="91440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2D7E1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" y="5733288"/>
            <a:ext cx="41148" cy="69494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7332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2542"/>
                </a:solidFill>
                <a:latin typeface="Aptos"/>
              </a:rPr>
              <a:t>Research Grounding (10 Papers)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0807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Bickel 1975, Pearl 2009, Johnson 2007, Leek 2010, Robinson 1950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DerSimonian &amp; Laird 1986, Higgins &amp; Thompson 2002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Aptos"/>
              </a:rPr>
              <a:t>•  Borenstein et al. 2010, Cochrane Handbook 2024, Demsar 2006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623560"/>
            <a:ext cx="5349240" cy="9144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5715000"/>
            <a:ext cx="5020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0893E"/>
                </a:solidFill>
                <a:latin typeface="Aptos"/>
              </a:rPr>
              <a:t>Total framework grounding: 25 peer-reviewed papers. 15 original (Sections D-E) + 10 new (Section F2) from clinical trials, causal inference, genomics, and ML evaluation methodology.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8C9B"/>
                </a:solidFill>
                <a:latin typeface="Aptos"/>
              </a:rPr>
              <a:t>AgentCert · Section F2: Cross-Experiment Analysis (2/2)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